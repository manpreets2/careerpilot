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09728" cy="5669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CareerPilot: Grounded, Human-Controlled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60120"/>
            <a:ext cx="11430000" cy="384048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Takeaway: Ship profile → Fill with evidence honesty — human keeps Submit.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0876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•  Scoring &amp; generation can outrun evidence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•  Stale packages &amp; cross-user leakage destroy trust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•  Form automation can cross into Submit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659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•  Grounded workflow to assisted application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•  Human controls eligibility, EEO/terms, Submit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•  Local / self-hostable v1 — not hosted SaaS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365760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749039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2" y="3749039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84248" y="365760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84248" y="3749039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749039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48456" y="365760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456" y="3749039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1768" y="3749039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12664" y="365760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12664" y="3749039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Materials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5976" y="3749039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76872" y="365760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749039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Approval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3749039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1080" y="365760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749039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Assisted Fill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3749039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05288" y="365760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05288" y="3749039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434840"/>
            <a:ext cx="11430000" cy="6400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5720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DC2626"/>
                </a:solidFill>
                <a:latin typeface="Calibri"/>
              </a:rPr>
              <a:t>Never auto-submits  ·  EEO / terms stay manual  ·  Greenhouse + Lever Fill only (certified)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2578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Program proof: explainable Fit, grounded materials, human approval, assisted Fill — with live acceptance evidence.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CareerPilot — TPM Case Study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09728" cy="5669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Architecture + Critical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60120"/>
            <a:ext cx="11430000" cy="384048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Takeaway: One local app — strict evidence chain, not microservices theater.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08760"/>
            <a:ext cx="4754880" cy="50292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React / Vite  +  Chrome extension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48839"/>
            <a:ext cx="475488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402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88920"/>
            <a:ext cx="4754880" cy="502920"/>
          </a:xfrm>
          <a:prstGeom prst="roundRect">
            <a:avLst>
              <a:gd name="adj" fmla="val 8000"/>
            </a:avLst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SQLite / SQLAlchemy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566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EXTERNALS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86200"/>
            <a:ext cx="1554480" cy="41148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9502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A0A0A"/>
                </a:solidFill>
                <a:latin typeface="Calibri"/>
              </a:rPr>
              <a:t>Job 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886200"/>
            <a:ext cx="1554480" cy="41148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39502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A0A0A"/>
                </a:solidFill>
                <a:latin typeface="Calibri"/>
              </a:rPr>
              <a:t>AI providers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886200"/>
            <a:ext cx="1554480" cy="41148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9502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A0A0A"/>
                </a:solidFill>
                <a:latin typeface="Calibri"/>
              </a:rPr>
              <a:t>Greenhouse / Lever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1508760"/>
            <a:ext cx="6309360" cy="123444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16002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DATA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19659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0A0A"/>
                </a:solidFill>
                <a:latin typeface="Calibri"/>
              </a:rPr>
              <a:t>Shared job catalog  vs  User-scoped private records
(profile, materials, tracker, analytics, saved searches)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926080"/>
            <a:ext cx="6309360" cy="1828800"/>
          </a:xfrm>
          <a:prstGeom prst="roundRect">
            <a:avLst>
              <a:gd name="adj" fmla="val 8000"/>
            </a:avLst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30632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CRITICAL 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4747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identity → candidate evidence → posting requirements
→ deterministic Fit → materials → approval → Fill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61772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Calibri"/>
              </a:rPr>
              <a:t>Architectural decisions
• Deterministic Fit does not depend on an LLM
• Fingerprints invalidate stale evidence / materials
• ATS identity uses posting IDs — never fuzzy title/company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CareerPilot — TPM Case Study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09728" cy="5669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Program Plan + Risks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60120"/>
            <a:ext cx="11430000" cy="384048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Takeaway: Small-team workstreams; Fit redesign mid-flight; privacy as a ship gate.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50876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62763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Identity
+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50876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62763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Discovery
+ 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50876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62763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Materials
+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2763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Assisted
Fill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50876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2763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Privacy /
adversarial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49840" y="150876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162763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Release +
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06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OWNERSHIP (small team — not a large org)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9260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Developer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0A0A"/>
                </a:solidFill>
                <a:latin typeface="Calibri"/>
              </a:rPr>
              <a:t>Shell / UI · Prepare · Interview placement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29260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Developer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337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0A0A"/>
                </a:solidFill>
                <a:latin typeface="Calibri"/>
              </a:rPr>
              <a:t>Discovery · Verification · ATS · Extension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29260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Shared /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337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A0A0A"/>
                </a:solidFill>
                <a:latin typeface="Calibri"/>
              </a:rPr>
              <a:t>Auth · Fit contracts · Privacy · Release 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023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TOP RISKS → MITIGATIONS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34340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4480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Calibri"/>
              </a:rPr>
              <a:t>Incomplete posting → misleading 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51206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59669"/>
                </a:solidFill>
                <a:latin typeface="Calibri"/>
              </a:rPr>
              <a:t>Verified / Potential + content status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0" y="434340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8" y="4480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Calibri"/>
              </a:rPr>
              <a:t>Stale evidence reused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51206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59669"/>
                </a:solidFill>
                <a:latin typeface="Calibri"/>
              </a:rPr>
              <a:t>Fingerprints invalidate packages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34340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4480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Calibri"/>
              </a:rPr>
              <a:t>Cross-user privacy leakage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1206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59669"/>
                </a:solidFill>
                <a:latin typeface="Calibri"/>
              </a:rPr>
              <a:t>A9 isolation / IDOR / deletion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4343400"/>
            <a:ext cx="28346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53728" y="4480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Calibri"/>
              </a:rPr>
              <a:t>Extension overreach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51206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59669"/>
                </a:solidFill>
                <a:latin typeface="Calibri"/>
              </a:rPr>
              <a:t>No Submit · EEO/terms manual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CareerPilot — TPM Case Study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09728" cy="5669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Launch Evidence + Release Provenance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60120"/>
            <a:ext cx="11430000" cy="384048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Takeaway: CI is necessary; live ATS/privacy acceptance is decisive — and SHA-bound.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08760"/>
            <a:ext cx="5577840" cy="306324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AUTOMATED GATES (tag-time)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0A0A0A"/>
                </a:solidFill>
                <a:latin typeface="Calibri"/>
              </a:rPr>
              <a:t>•  Frontend tests: 226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A0A0A"/>
                </a:solidFill>
                <a:latin typeface="Calibri"/>
              </a:rPr>
              <a:t>•  Extension tests: 109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A0A0A"/>
                </a:solidFill>
                <a:latin typeface="Calibri"/>
              </a:rPr>
              <a:t>•  Mapped paths: 124 valid / 0 missing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A0A0A"/>
                </a:solidFill>
                <a:latin typeface="Calibri"/>
              </a:rPr>
              <a:t>•  CI + dependency audits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A0A0A"/>
                </a:solidFill>
                <a:latin typeface="Calibri"/>
              </a:rPr>
              <a:t>•  Full-history secret scan (Gitleaks)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577840" cy="3063240"/>
          </a:xfrm>
          <a:prstGeom prst="roundRect">
            <a:avLst>
              <a:gd name="adj" fmla="val 8000"/>
            </a:avLst>
          </a:prstGeom>
          <a:solidFill>
            <a:srgbClr val="11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LIVE / MANUAL ACCEPTANCE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574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Greenhouse Fill certified (Chrome 152)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Lever Fill certified — never Submit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A9 isolation / IDOR / account deletion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Phase 6 adversarial: no open P0/P1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Attachment: filename alone ≠ proof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754880"/>
            <a:ext cx="11430000" cy="123444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RELEASE PROVENANCE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0A0A"/>
                </a:solidFill>
                <a:latin typeface="Calibri"/>
              </a:rPr>
              <a:t>Certified runtime 7b6c3ee  ≠  release tag v1.0.0 b73a983
Later docs/version commits did not inherit runtime certification.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CareerPilot — TPM 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09728" cy="5669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603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Results, Tradeoffs, Next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60120"/>
            <a:ext cx="11430000" cy="384048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Takeaway: Honest scope is a quality decision — not a lack of ambition.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08760"/>
            <a:ext cx="5577840" cy="2606040"/>
          </a:xfrm>
          <a:prstGeom prst="roundRect">
            <a:avLst>
              <a:gd name="adj" fmla="val 8000"/>
            </a:avLst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SHIPPED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•  Grounded candidate / job evidence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•  Deterministic Fit + human approval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•  Greenhouse / Lever assisted Fill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•  Private per-user workflows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•  Tagged immutable v1.0.0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577840" cy="26060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DELIBERATELY NOT SHIPPED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574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•  Auto-submit / auto-apply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•  Universal ATS support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•  Hosted production SaaS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•  EEO / consent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976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Lessons: live acceptance when CI can’t prove browser behavior · release provenance matters · keeping something out of scope can improve product quality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074920"/>
            <a:ext cx="11430000" cy="8686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Next: targeted post-v1 correctness + migration maturity — not random feature expansion.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CareerPilot — TPM 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